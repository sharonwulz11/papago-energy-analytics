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0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(LBNL)</c:v>
                </c:pt>
              </c:strCache>
            </c:strRef>
          </c:tx>
          <c:spPr>
            <a:ln w="38100" cap="flat">
              <a:solidFill>
                <a:srgbClr val="B7CFA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7CFA1"/>
              </a:solidFill>
              <a:ln w="9525" cap="flat">
                <a:solidFill>
                  <a:srgbClr val="B7CFA1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  <c:pt idx="10">
                  <c:v>2028</c:v>
                </c:pt>
                <c:pt idx="11">
                  <c:v>2029</c:v>
                </c:pt>
                <c:pt idx="12">
                  <c:v>2030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76</c:v>
                </c:pt>
                <c:pt idx="1">
                  <c:v>80</c:v>
                </c:pt>
                <c:pt idx="2">
                  <c:v>90</c:v>
                </c:pt>
                <c:pt idx="3">
                  <c:v>105</c:v>
                </c:pt>
                <c:pt idx="4">
                  <c:v>130</c:v>
                </c:pt>
                <c:pt idx="5">
                  <c:v>176</c:v>
                </c:pt>
                <c:pt idx="6">
                  <c:v>200</c:v>
                </c:pt>
                <c:pt idx="7">
                  <c:v>225</c:v>
                </c:pt>
                <c:pt idx="8">
                  <c:v>255</c:v>
                </c:pt>
                <c:pt idx="9">
                  <c:v>290</c:v>
                </c:pt>
                <c:pt idx="10">
                  <c:v>325</c:v>
                </c:pt>
                <c:pt idx="11">
                  <c:v>365</c:v>
                </c:pt>
                <c:pt idx="12">
                  <c:v>400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E19-5D47-9F7D-0D59055586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(LBNL midpoint)</c:v>
                </c:pt>
              </c:strCache>
            </c:strRef>
          </c:tx>
          <c:spPr>
            <a:ln w="38100" cap="flat">
              <a:solidFill>
                <a:srgbClr val="97BC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  <c:pt idx="10">
                  <c:v>2028</c:v>
                </c:pt>
                <c:pt idx="11">
                  <c:v>2029</c:v>
                </c:pt>
                <c:pt idx="12">
                  <c:v>2030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76</c:v>
                </c:pt>
                <c:pt idx="1">
                  <c:v>80</c:v>
                </c:pt>
                <c:pt idx="2">
                  <c:v>90</c:v>
                </c:pt>
                <c:pt idx="3">
                  <c:v>105</c:v>
                </c:pt>
                <c:pt idx="4">
                  <c:v>130</c:v>
                </c:pt>
                <c:pt idx="5">
                  <c:v>176</c:v>
                </c:pt>
                <c:pt idx="6">
                  <c:v>215</c:v>
                </c:pt>
                <c:pt idx="7">
                  <c:v>255</c:v>
                </c:pt>
                <c:pt idx="8">
                  <c:v>300</c:v>
                </c:pt>
                <c:pt idx="9">
                  <c:v>350</c:v>
                </c:pt>
                <c:pt idx="10">
                  <c:v>410</c:v>
                </c:pt>
                <c:pt idx="11">
                  <c:v>470</c:v>
                </c:pt>
                <c:pt idx="12">
                  <c:v>525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E19-5D47-9F7D-0D59055586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(IEA / Goldman)</c:v>
                </c:pt>
              </c:strCache>
            </c:strRef>
          </c:tx>
          <c:spPr>
            <a:ln w="38100" cap="flat">
              <a:solidFill>
                <a:srgbClr val="1F4E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4E2C"/>
              </a:solidFill>
              <a:ln w="9525" cap="flat">
                <a:solidFill>
                  <a:srgbClr val="1F4E2C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  <c:pt idx="10">
                  <c:v>2028</c:v>
                </c:pt>
                <c:pt idx="11">
                  <c:v>2029</c:v>
                </c:pt>
                <c:pt idx="12">
                  <c:v>2030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76</c:v>
                </c:pt>
                <c:pt idx="1">
                  <c:v>80</c:v>
                </c:pt>
                <c:pt idx="2">
                  <c:v>90</c:v>
                </c:pt>
                <c:pt idx="3">
                  <c:v>105</c:v>
                </c:pt>
                <c:pt idx="4">
                  <c:v>130</c:v>
                </c:pt>
                <c:pt idx="5">
                  <c:v>176</c:v>
                </c:pt>
                <c:pt idx="6">
                  <c:v>230</c:v>
                </c:pt>
                <c:pt idx="7">
                  <c:v>285</c:v>
                </c:pt>
                <c:pt idx="8">
                  <c:v>345</c:v>
                </c:pt>
                <c:pt idx="9">
                  <c:v>415</c:v>
                </c:pt>
                <c:pt idx="10">
                  <c:v>500</c:v>
                </c:pt>
                <c:pt idx="11">
                  <c:v>590</c:v>
                </c:pt>
                <c:pt idx="12">
                  <c:v>680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E19-5D47-9F7D-0D5905558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000" b="0" i="0" u="none" strike="noStrike">
                    <a:solidFill>
                      <a:srgbClr val="55615A"/>
                    </a:solidFill>
                    <a:latin typeface="Arial"/>
                  </a:rPr>
                  <a:t>TWh / year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1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Virginia</c:v>
                </c:pt>
                <c:pt idx="1">
                  <c:v>Texas</c:v>
                </c:pt>
                <c:pt idx="2">
                  <c:v>Oregon</c:v>
                </c:pt>
                <c:pt idx="3">
                  <c:v>California</c:v>
                </c:pt>
                <c:pt idx="4">
                  <c:v>Georgia</c:v>
                </c:pt>
                <c:pt idx="5">
                  <c:v>Arizona</c:v>
                </c:pt>
                <c:pt idx="6">
                  <c:v>Ohio</c:v>
                </c:pt>
                <c:pt idx="7">
                  <c:v>Iowa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12.1</c:v>
                </c:pt>
                <c:pt idx="1">
                  <c:v>9.6999999999999993</c:v>
                </c:pt>
                <c:pt idx="2">
                  <c:v>4</c:v>
                </c:pt>
                <c:pt idx="3">
                  <c:v>3.4</c:v>
                </c:pt>
                <c:pt idx="4">
                  <c:v>3.2</c:v>
                </c:pt>
                <c:pt idx="5">
                  <c:v>3.2</c:v>
                </c:pt>
                <c:pt idx="6">
                  <c:v>2.9</c:v>
                </c:pt>
                <c:pt idx="7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EE-A949-8787-A59C99D888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 (forecast)</c:v>
                </c:pt>
              </c:strCache>
            </c:strRef>
          </c:tx>
          <c:spPr>
            <a:solidFill>
              <a:srgbClr val="1F4E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Virginia</c:v>
                </c:pt>
                <c:pt idx="1">
                  <c:v>Texas</c:v>
                </c:pt>
                <c:pt idx="2">
                  <c:v>Oregon</c:v>
                </c:pt>
                <c:pt idx="3">
                  <c:v>California</c:v>
                </c:pt>
                <c:pt idx="4">
                  <c:v>Georgia</c:v>
                </c:pt>
                <c:pt idx="5">
                  <c:v>Arizona</c:v>
                </c:pt>
                <c:pt idx="6">
                  <c:v>Ohio</c:v>
                </c:pt>
                <c:pt idx="7">
                  <c:v>Iowa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</c:v>
                </c:pt>
                <c:pt idx="1">
                  <c:v>18.5</c:v>
                </c:pt>
                <c:pt idx="2">
                  <c:v>6.5</c:v>
                </c:pt>
                <c:pt idx="3">
                  <c:v>4.5</c:v>
                </c:pt>
                <c:pt idx="4">
                  <c:v>7</c:v>
                </c:pt>
                <c:pt idx="5">
                  <c:v>6</c:v>
                </c:pt>
                <c:pt idx="6">
                  <c:v>7.5</c:v>
                </c:pt>
                <c:pt idx="7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EE-A949-8787-A59C99D888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100" b="0" i="0" u="none" strike="noStrike">
                    <a:solidFill>
                      <a:srgbClr val="55615A"/>
                    </a:solidFill>
                    <a:latin typeface="Arial"/>
                  </a:rPr>
                  <a:t>Grid power demand (GW)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1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$/MW-day</c:v>
                </c:pt>
              </c:strCache>
            </c:strRef>
          </c:tx>
          <c:spPr>
            <a:solidFill>
              <a:srgbClr val="1F4E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2022/23</c:v>
                </c:pt>
                <c:pt idx="1">
                  <c:v>2023/24</c:v>
                </c:pt>
                <c:pt idx="2">
                  <c:v>2024/25</c:v>
                </c:pt>
                <c:pt idx="3">
                  <c:v>2025/26</c:v>
                </c:pt>
                <c:pt idx="4">
                  <c:v>2026/27</c:v>
                </c:pt>
                <c:pt idx="5">
                  <c:v>2027/28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34.130000000000003</c:v>
                </c:pt>
                <c:pt idx="2">
                  <c:v>28.92</c:v>
                </c:pt>
                <c:pt idx="3">
                  <c:v>269.92</c:v>
                </c:pt>
                <c:pt idx="4">
                  <c:v>329.17</c:v>
                </c:pt>
                <c:pt idx="5">
                  <c:v>333.44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CE-0D44-AB3F-078F6F37D6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100" b="0" i="0" u="none" strike="noStrike">
                    <a:solidFill>
                      <a:srgbClr val="55615A"/>
                    </a:solidFill>
                    <a:latin typeface="Arial"/>
                  </a:rPr>
                  <a:t>Capacity clearing price ($/MW-day)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large-load queue</c:v>
                </c:pt>
              </c:strCache>
            </c:strRef>
          </c:tx>
          <c:spPr>
            <a:ln w="50800" cap="flat">
              <a:solidFill>
                <a:srgbClr val="1F4E2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F4E2C"/>
              </a:solidFill>
              <a:ln w="9525" cap="flat">
                <a:solidFill>
                  <a:srgbClr val="1F4E2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Dec '24</c:v>
                </c:pt>
                <c:pt idx="1">
                  <c:v>Jun '25</c:v>
                </c:pt>
                <c:pt idx="2">
                  <c:v>Nov '25</c:v>
                </c:pt>
                <c:pt idx="3">
                  <c:v>Jan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110</c:v>
                </c:pt>
                <c:pt idx="2">
                  <c:v>226</c:v>
                </c:pt>
                <c:pt idx="3">
                  <c:v>233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5-A743-AD5B-585CB53408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 which: data centers</c:v>
                </c:pt>
              </c:strCache>
            </c:strRef>
          </c:tx>
          <c:spPr>
            <a:ln w="50800" cap="flat">
              <a:solidFill>
                <a:srgbClr val="97BC6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Dec '24</c:v>
                </c:pt>
                <c:pt idx="1">
                  <c:v>Jun '25</c:v>
                </c:pt>
                <c:pt idx="2">
                  <c:v>Nov '25</c:v>
                </c:pt>
                <c:pt idx="3">
                  <c:v>Jan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34.700000000000003</c:v>
                </c:pt>
                <c:pt idx="1">
                  <c:v>71.5</c:v>
                </c:pt>
                <c:pt idx="2">
                  <c:v>174</c:v>
                </c:pt>
                <c:pt idx="3">
                  <c:v>179.4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15-A743-AD5B-585CB5340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100" b="0" i="0" u="none" strike="noStrike">
                    <a:solidFill>
                      <a:srgbClr val="55615A"/>
                    </a:solidFill>
                    <a:latin typeface="Arial"/>
                  </a:rPr>
                  <a:t>GW in interconnection queue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1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2C"/>
                </a:solidFill>
                <a:latin typeface="Arial"/>
              </a:defRPr>
            </a:pPr>
            <a:r>
              <a:rPr lang="fr-CA" sz="1200" b="0" i="0" u="none" strike="noStrike">
                <a:solidFill>
                  <a:srgbClr val="1F4E2C"/>
                </a:solidFill>
                <a:latin typeface="Arial"/>
              </a:rPr>
              <a:t>Demand path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BAU &amp; Green AI Transition</c:v>
                </c:pt>
              </c:strCache>
            </c:strRef>
          </c:tx>
          <c:spPr>
            <a:ln w="38100" cap="flat">
              <a:solidFill>
                <a:srgbClr val="C8A9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A951"/>
              </a:solidFill>
              <a:ln w="9525" cap="flat">
                <a:solidFill>
                  <a:srgbClr val="C8A95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215</c:v>
                </c:pt>
                <c:pt idx="1">
                  <c:v>252</c:v>
                </c:pt>
                <c:pt idx="2">
                  <c:v>295</c:v>
                </c:pt>
                <c:pt idx="3">
                  <c:v>345</c:v>
                </c:pt>
                <c:pt idx="4">
                  <c:v>405</c:v>
                </c:pt>
                <c:pt idx="5">
                  <c:v>475</c:v>
                </c:pt>
                <c:pt idx="6">
                  <c:v>525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3E8-6246-840D-0A2E40F004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Efficiency Breakthrough</c:v>
                </c:pt>
              </c:strCache>
            </c:strRef>
          </c:tx>
          <c:spPr>
            <a:ln w="38100" cap="flat">
              <a:solidFill>
                <a:srgbClr val="97BC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215</c:v>
                </c:pt>
                <c:pt idx="1">
                  <c:v>240</c:v>
                </c:pt>
                <c:pt idx="2">
                  <c:v>270</c:v>
                </c:pt>
                <c:pt idx="3">
                  <c:v>300</c:v>
                </c:pt>
                <c:pt idx="4">
                  <c:v>330</c:v>
                </c:pt>
                <c:pt idx="5">
                  <c:v>350</c:v>
                </c:pt>
                <c:pt idx="6">
                  <c:v>370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3E8-6246-840D-0A2E40F00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000" b="0" i="0" u="none" strike="noStrike">
                    <a:solidFill>
                      <a:srgbClr val="55615A"/>
                    </a:solidFill>
                    <a:latin typeface="Arial"/>
                  </a:rPr>
                  <a:t>U.S. data-center demand (TWh)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561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2C"/>
                </a:solidFill>
                <a:latin typeface="Arial"/>
              </a:defRPr>
            </a:pPr>
            <a:r>
              <a:rPr lang="fr-CA" sz="1200" b="0" i="0" u="none" strike="noStrike">
                <a:solidFill>
                  <a:srgbClr val="1F4E2C"/>
                </a:solidFill>
                <a:latin typeface="Arial"/>
              </a:rPr>
              <a:t>Cumulative emissions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MtCO₂</c:v>
                </c:pt>
              </c:strCache>
            </c:strRef>
          </c:tx>
          <c:spPr>
            <a:solidFill>
              <a:srgbClr val="C8A95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EF-654F-82ED-432DB3EE3190}"/>
              </c:ext>
            </c:extLst>
          </c:dPt>
          <c:dPt>
            <c:idx val="1"/>
            <c:invertIfNegative val="0"/>
            <c:bubble3D val="0"/>
            <c:spPr>
              <a:solidFill>
                <a:srgbClr val="1F4E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EF-654F-82ED-432DB3EE3190}"/>
              </c:ext>
            </c:extLst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EF-654F-82ED-432DB3EE319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BAU</c:v>
                </c:pt>
                <c:pt idx="1">
                  <c:v>Green AI</c:v>
                </c:pt>
                <c:pt idx="2">
                  <c:v>Efficiency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646</c:v>
                </c:pt>
                <c:pt idx="1">
                  <c:v>504</c:v>
                </c:pt>
                <c:pt idx="2">
                  <c:v>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EF-654F-82ED-432DB3EE31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000" b="0" i="0" u="none" strike="noStrike">
                    <a:solidFill>
                      <a:srgbClr val="55615A"/>
                    </a:solidFill>
                    <a:latin typeface="Arial"/>
                  </a:rPr>
                  <a:t>Cumulative MtCO₂ (2024–2030)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2C"/>
                </a:solidFill>
                <a:latin typeface="Arial"/>
              </a:defRPr>
            </a:pPr>
            <a:r>
              <a:rPr lang="fr-CA" sz="1200" b="0" i="0" u="none" strike="noStrike">
                <a:solidFill>
                  <a:srgbClr val="1F4E2C"/>
                </a:solidFill>
                <a:latin typeface="Arial"/>
              </a:rPr>
              <a:t>Industry-average PUE plateaued near 1.56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average</c:v>
                </c:pt>
              </c:strCache>
            </c:strRef>
          </c:tx>
          <c:spPr>
            <a:ln w="38100" cap="flat">
              <a:solidFill>
                <a:srgbClr val="5561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615A"/>
              </a:solidFill>
              <a:ln w="9525" cap="flat">
                <a:solidFill>
                  <a:srgbClr val="55615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2007</c:v>
                </c:pt>
                <c:pt idx="1">
                  <c:v>2011</c:v>
                </c:pt>
                <c:pt idx="2">
                  <c:v>2014</c:v>
                </c:pt>
                <c:pt idx="3">
                  <c:v>2018</c:v>
                </c:pt>
                <c:pt idx="4">
                  <c:v>2020</c:v>
                </c:pt>
                <c:pt idx="5">
                  <c:v>2022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2.5</c:v>
                </c:pt>
                <c:pt idx="1">
                  <c:v>1.98</c:v>
                </c:pt>
                <c:pt idx="2">
                  <c:v>1.7</c:v>
                </c:pt>
                <c:pt idx="3">
                  <c:v>1.58</c:v>
                </c:pt>
                <c:pt idx="4">
                  <c:v>1.59</c:v>
                </c:pt>
                <c:pt idx="5">
                  <c:v>1.55</c:v>
                </c:pt>
                <c:pt idx="6">
                  <c:v>1.56</c:v>
                </c:pt>
                <c:pt idx="7">
                  <c:v>1.56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916-8441-A113-5B6EF36B47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 fleet-wide</c:v>
                </c:pt>
              </c:strCache>
            </c:strRef>
          </c:tx>
          <c:spPr>
            <a:ln w="38100" cap="flat">
              <a:solidFill>
                <a:srgbClr val="1F4E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4E2C"/>
              </a:solidFill>
              <a:ln w="9525" cap="flat">
                <a:solidFill>
                  <a:srgbClr val="1F4E2C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2007</c:v>
                </c:pt>
                <c:pt idx="1">
                  <c:v>2011</c:v>
                </c:pt>
                <c:pt idx="2">
                  <c:v>2014</c:v>
                </c:pt>
                <c:pt idx="3">
                  <c:v>2018</c:v>
                </c:pt>
                <c:pt idx="4">
                  <c:v>2020</c:v>
                </c:pt>
                <c:pt idx="5">
                  <c:v>2022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1">
                  <c:v>1.1599999999999999</c:v>
                </c:pt>
                <c:pt idx="2">
                  <c:v>1.1200000000000001</c:v>
                </c:pt>
                <c:pt idx="3">
                  <c:v>1.1100000000000001</c:v>
                </c:pt>
                <c:pt idx="4">
                  <c:v>1.1000000000000001</c:v>
                </c:pt>
                <c:pt idx="5">
                  <c:v>1.1000000000000001</c:v>
                </c:pt>
                <c:pt idx="6">
                  <c:v>1.0900000000000001</c:v>
                </c:pt>
                <c:pt idx="7">
                  <c:v>1.0900000000000001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916-8441-A113-5B6EF36B4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000" b="0" i="0" u="none" strike="noStrike">
                    <a:solidFill>
                      <a:srgbClr val="55615A"/>
                    </a:solidFill>
                    <a:latin typeface="Arial"/>
                  </a:rPr>
                  <a:t>Power Usage Effectiveness (PUE)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561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2C"/>
                </a:solidFill>
                <a:latin typeface="Arial"/>
              </a:defRPr>
            </a:pPr>
            <a:r>
              <a:rPr lang="fr-CA" sz="1200" b="0" i="0" u="none" strike="noStrike">
                <a:solidFill>
                  <a:srgbClr val="1F4E2C"/>
                </a:solidFill>
                <a:latin typeface="Arial"/>
              </a:rPr>
              <a:t>Chip gains are real — but Jevons effect dominates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 efficiency (FLOPs/W, indexed)</c:v>
                </c:pt>
              </c:strCache>
            </c:strRef>
          </c:tx>
          <c:spPr>
            <a:ln w="38100" cap="flat">
              <a:solidFill>
                <a:srgbClr val="97BC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2020</c:v>
                </c:pt>
                <c:pt idx="2">
                  <c:v>2022</c:v>
                </c:pt>
                <c:pt idx="3">
                  <c:v>2024</c:v>
                </c:pt>
                <c:pt idx="4">
                  <c:v>2026</c:v>
                </c:pt>
                <c:pt idx="5">
                  <c:v>2028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3.8</c:v>
                </c:pt>
                <c:pt idx="3">
                  <c:v>7.5</c:v>
                </c:pt>
                <c:pt idx="4">
                  <c:v>14.8</c:v>
                </c:pt>
                <c:pt idx="5">
                  <c:v>28.9</c:v>
                </c:pt>
                <c:pt idx="6">
                  <c:v>56.7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26D-2741-8A7C-E83C5D0416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DC demand (TWh, indexed)</c:v>
                </c:pt>
              </c:strCache>
            </c:strRef>
          </c:tx>
          <c:spPr>
            <a:ln w="38100" cap="flat">
              <a:solidFill>
                <a:srgbClr val="C8A9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A951"/>
              </a:solidFill>
              <a:ln w="9525" cap="flat">
                <a:solidFill>
                  <a:srgbClr val="C8A95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2020</c:v>
                </c:pt>
                <c:pt idx="2">
                  <c:v>2022</c:v>
                </c:pt>
                <c:pt idx="3">
                  <c:v>2024</c:v>
                </c:pt>
                <c:pt idx="4">
                  <c:v>2026</c:v>
                </c:pt>
                <c:pt idx="5">
                  <c:v>2028</c:v>
                </c:pt>
                <c:pt idx="6">
                  <c:v>2030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1.18</c:v>
                </c:pt>
                <c:pt idx="2">
                  <c:v>1.71</c:v>
                </c:pt>
                <c:pt idx="3">
                  <c:v>2.83</c:v>
                </c:pt>
                <c:pt idx="4">
                  <c:v>3.95</c:v>
                </c:pt>
                <c:pt idx="5">
                  <c:v>5.39</c:v>
                </c:pt>
                <c:pt idx="6">
                  <c:v>6.91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26D-2741-8A7C-E83C5D041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DD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615A"/>
                    </a:solidFill>
                    <a:latin typeface="Arial"/>
                  </a:defRPr>
                </a:pPr>
                <a:r>
                  <a:rPr lang="fr-CA" sz="1000" b="0" i="0" u="none" strike="noStrike">
                    <a:solidFill>
                      <a:srgbClr val="55615A"/>
                    </a:solidFill>
                    <a:latin typeface="Arial"/>
                  </a:rPr>
                  <a:t>Index (2018 = 1)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561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37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" cy="576072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6868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Energy Implications of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Data Centers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68680" y="5212080"/>
            <a:ext cx="548640" cy="18288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Papago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Linzhi (Sharon) Wu  ·  Kelly Zeng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 ·  Spring 2026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3  ·  FOCUS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guiding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83080" y="2057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additional electricity demand will AI-driven data centers generate over the next 5–10 years?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926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78308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this demand affect wholesale prices, peak load, and grid stability in regions with concentrated data-center activity?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9264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783080" y="4800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what extent can renewable adoption and hardware efficiency offset the environmental impact?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92640" y="4937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8978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from the project proposal.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4  ·  STAKEHOLDER PERSPECTIVE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this for, and what decision does it inform?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public utility commissions and grid operators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Specifically: Virginia SCC, Texas PUCT, California CPUC, and the operators of PJM, ERCOT, and CAISO.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48640" cy="18288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institutional investors evaluating utilities and hyperscaler infrastructure exposure.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9144" cy="4297680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OUR ANALYSIS AIMS TO INFORM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transmission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approve new gas, nuclear, or transmission build to serve hyperscaler load.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154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allocation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large loads should pay a separate rate class (Virginia GS-5, Oregon's dedicated tariff).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Interconnection rules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389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require demand response, on-site generation, or co-located storage as a connection condition.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5074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backstops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2852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extend price caps, mandate flexible loads, or fast-track generation procurement.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PHENOMENON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U.S. data-center electricity use is on track to triple by 2030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498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783080"/>
            <a:ext cx="32918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32104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176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321040" y="24963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actual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~4.4% of U.S. electricity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21040" y="3200400"/>
            <a:ext cx="32918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32104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525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321040" y="3913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LBNL midpoint projection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21040" y="4617720"/>
            <a:ext cx="32918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32104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+165%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321040" y="5330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21040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global growth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2023–2030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Lawrence Berkeley National Lab 2024 U.S. Data Center Energy Usage Report; IEA Energy and AI (2025); Goldman Sachs Research (2025).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is wildly concentrated in five states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498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7830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3210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2104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321040" y="36118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data-center load is in 15 states. Virginia alone hosts ~26% of the country's total — and ~26% of Virginia's electricity.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4983480"/>
            <a:ext cx="32918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321040" y="5074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any analysis of grid stress must be regional. National averages mask the failure modes.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451 Research / S&amp;P Global Datacenter Services Outlook (Sep 2025); Pew Research analysis of EPRI 2024.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STRESS  ·  CASE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PJM capacity prices have risen ~10× in two years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1323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783080"/>
            <a:ext cx="36576" cy="109728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09244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+833%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092440" y="2377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Single-year increase, 2024/25 → 2025/26 auction (PJM news release).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200400"/>
            <a:ext cx="36576" cy="109728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092440" y="3200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$9.4B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09244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 passed to PJM ratepayers in 2025/26 — 63% attributable to data centers (Independent Market Monitor).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4617720"/>
            <a:ext cx="36576" cy="109728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092440" y="4617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$70/mo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09244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NRDC estimate of average PJM household bill increase by 2028 if cap removed.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39" y="5760720"/>
            <a:ext cx="821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2026/27 and 2027/28 auctions cleared at the FERC-approved cap. PJM cleared 6.6 GW below its 20% reserve-margin target.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PJM Base Residual Auction releases; IEEFA July 2025; NRDC October 2025.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STRESS  ·  CASE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ERCOT's large-load queue nearly quadrupled in a year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1323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7830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95528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queue is data centers.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367 GW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95528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preliminary 2032 peak — over 4× today's record.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4617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GW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955280" y="5120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generation added 2024–25. The queue dwarfs supply.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 itself flagged the 2026 forecast as likely an over-estimate — "phantom load" from speculative interconnection requests is a known data-quality problem.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ERCOT Long-Term Load Forecast filings (2024–2026); Latitude Media Feb 2026; Texas Scorecard Apr 2026.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6  · 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Three-stage approach: describe, estimate,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analysis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23160" y="1892808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data-center capacity by state, ISO/RTO, and zone.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regions with heavy DC presence (VA, TX) to controls.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stylized facts the model must explain.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2316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451 Research, EPRI, EIA Form 861.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 facts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4–5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Econometric estimation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23160" y="3401568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OLS with state fixed effects.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= α_state + β·DC_GW + γ·CDD + δ·HDD + ζ·Industrial + 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isolate the data-center effect from weather and macro activity.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Constructed monthly panel, 3 states × 96 months.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3429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41832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coefficients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projection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23160" y="4910328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2024–2030 scenarios: BAU, Green AI, Efficiency Breakthrough.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adjusts demand AND fuel mix; emissions computed bottom-up.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CO₂ compared against the BAU baseline.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23160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IEA Energy &amp; AI, Uptime Institute, Epoch AI chip-efficiency series.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1832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1832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scenarios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11–12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5a  ·  PRELIMINARY FINDINGS — STAGE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stylized facts the data overwhelmingly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Data-center demand is geographically concentrated, not diffuse.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3080" y="24963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states (VA, TX, OR, CA, GA) hold ~65% of U.S. capacity. VA and TX alone added ~5 GW in 2024–25.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83080" y="33375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concentration is high, capacity markets are stressed.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83080" y="382219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PJM's Dominion zone (northern Virginia) and ERCOT large-load nodes show 10× capacity-price moves and 4× queue growth respectively.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783080" y="46634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shifting onto residential ratepayers — for now.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83080" y="514807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PJM household bill +$18/month in W. Maryland; +$21/month for DC Pepco customers; ~$70/month estimate by 2028 absent intervention.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76072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facts are firm. They are documented in primary sources (PJM, ERCOT, EIA) and corroborated by independent analysis (NRDC, IEEFA, Pew).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5b  ·  PRELIMINARY FINDINGS — STAGE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new GW adds ~7.7 TWh/year to state demand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OLS, state fixed effects  ·  N = 288  ·  R² = 0.926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36312"/>
              </p:ext>
            </p:extLst>
          </p:nvPr>
        </p:nvGraphicFramePr>
        <p:xfrm>
          <a:off x="548640" y="2148840"/>
          <a:ext cx="6858000" cy="208788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Data-center capacity (GW)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6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degree days (CDD)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6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Heating degree days (HDD)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6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activity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6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4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DV: monthly state electricity demand (TWh).  All coefficients significant at p &lt; 0.001.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9144" cy="4114800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8638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 TWh/month per GW</a:t>
            </a:r>
            <a:endParaRPr lang="en-US" sz="2400" dirty="0"/>
          </a:p>
        </p:txBody>
      </p:sp>
      <p:sp>
        <p:nvSpPr>
          <p:cNvPr id="6" name="Text 8"/>
          <p:cNvSpPr/>
          <p:nvPr/>
        </p:nvSpPr>
        <p:spPr>
          <a:xfrm>
            <a:off x="7863840" y="2697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7.7 TWh/year — equivalent to running a 1 GW facility at ~88% load factor. Matches industry reporting for hyperscale facilities.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3794760"/>
            <a:ext cx="548640" cy="18288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8638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Wholesale-price model (R² = 0.52) shows ~$0.82/MWh increase per added GW on a linear basis — non-linearly larger in the most concentrated zones.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63840" y="5486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·  PRELIMINARY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0" y="5760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re-estimated on EIA actuals once 2024 Form 861 panel is complete.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SCENARIO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plausible 2024–2030 trajectories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BUSINESS-AS-USUAL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Continued rapid AI expansion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525 TWh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demand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35204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LBNL high-mid trajectory (+144% vs 2024).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mix only modestly cleaner: gas falls 41% → 38%.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phase-out continues (15% → 7%).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204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AI TRANSITION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renewable adoption by hyperscalers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97680" y="31089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525 TWh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297680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demand (same)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4206240"/>
            <a:ext cx="35204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297680" y="434340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path identical to BAU.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24% → 55%; gas drops to 20%.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carbon-free PPAs become the dominant procurement model.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691640"/>
            <a:ext cx="352044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4672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BREAKTHROUGH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21488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chip + cooling efficiency gains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46720" y="31089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370 TWh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046720" y="3794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demand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4206240"/>
            <a:ext cx="35204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046720" y="434340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efficiency holds 40%/yr trajectory (Epoch AI).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Industry-avg PUE drops from 1.56 → 1.30.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mix retained (no clean-energy assumption).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scenarios use the same 2024 starting point (215 TWh). They differ in demand path, fuel mix, or both. Emissions are computed bottom-up.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SCENARIO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lever cuts ~20% — but neither alone is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675120" y="1691640"/>
          <a:ext cx="4937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852160"/>
            <a:ext cx="36576" cy="4572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685800" y="5852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FINDING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85800" y="6053328"/>
            <a:ext cx="1092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lever alone cuts ~17–22% of cumulative emissions vs BAU. Hitting climate targets requires both — and even then, total emissions stay far above a 2024 baseline.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LEVERS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we're cautious about the "efficiency will save us"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17920" y="169164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897880"/>
            <a:ext cx="36576" cy="457200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670560" y="58155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efficiency improves ~40%/yr (Epoch AI) — yet aggregate demand still rises sharply because models, parameter counts, and inference volumes scale faster than per-FLOP efficiency. PUE has plateaued for the industry average since 2018; only hyperscalers approach 1.1.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5b  ·  CURRENT 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land — for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data centers are already reshaping regional grids.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PJM Dominion zone and ERCOT are not future scenarios — they are the present. Capacity prices, queue volumes, and bill increases are documented.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7220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46988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72200" y="25603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are being socialized; benefits are concentrated.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315468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capture the AI productivity surplus while ratepayers absorb capacity-market and transmission upgrades. This is politically unsustainable.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40680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4160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alone will not bend the curve; clean-energy alone will not either.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lever cuts ~20% of cumulative emissions vs BAU. Hitting climate goals requires both, plus aggressive demand response and grid-flexibility programs.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40680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7220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469880" y="4160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470916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are highly speculative — caution is warranted.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530352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ERCOT's own grid operator flags its 367 GW peak forecast as inflated by phantom load. LBNL's 2030 range spans 200 TWh — almost the entire 2023 total.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6b  ·  METHODOLOGICAL 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challenges — and how we're handling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data transparency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  </a:t>
            </a: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don't disclose facility-level kWh; AI compute is not separately tracked in any utility forecast.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651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Approach.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 from GPU shipments (NVIDIA disclosures), cloud revenue, and PUE benchmarks. Use 451 Research's facility-level capacity series as the primary spatial unit.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83080" y="33375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Separating AI from general cloud growth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83080" y="3749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  </a:t>
            </a: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grew rapidly post-2020. A single "data center" label conflates ChatGPT-class workloads with email and storage.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4069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Approach.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difference-in-differences design: compare counties with announced AI-specific campuses (xAI Memphis, Stargate sites) to matched cloud-only counties.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83080" y="47548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Establishing causality, not just correlation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3080" y="5166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  </a:t>
            </a: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growth is correlated with overall economic growth and warming summers — both drive electricity demand.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54864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Approach.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CDD/HDD and a state industrial-activity index in the panel. Regression coefficient on DC capacity matches engineering bottom-up estimates (≈ 0.88 capacity factor).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7  ·  REMAINING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left between now and May 11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BEFORE MAY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" cy="36576"/>
          </a:xfrm>
          <a:prstGeom prst="rect">
            <a:avLst/>
          </a:prstGeom>
          <a:solidFill>
            <a:srgbClr val="1F4E2C"/>
          </a:solidFill>
          <a:ln w="12700">
            <a:solidFill>
              <a:srgbClr val="1F4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" y="2177001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Re-estimate panel regression on EIA Form 861 actuals (2018–2024) once 2024 final release lands.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fourth state (Oregon — ranked #3 in DC load) to the panel for a robustness check.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placebo regression on counties without data-center clusters; coefficient should be near zero.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on the BAU trajectory: high vs low LBNL bands to bound cumulative emissions.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grid-flexibility module showing how 10% demand response on data centers shifts peak load.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9144" cy="4297680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ANALYSIS WE WISH WE COULD RUN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2103120"/>
            <a:ext cx="548640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hourly co-simulation of AI workload shifting against renewable supply.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3691526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training jobs can be deferred to renewable-rich hours, the same kWh has a far lower emissions footprint. This would let us bound the upside of demand response — currently the most uncertain lever in the literature.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890185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can't.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hourly load + LMP + renewable generation data across PJM, ERCOT, and CAISO, plus workload-level training schedules — none of which are publicly available at the granularity needed in the time we have.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64240" cy="9144"/>
          </a:xfrm>
          <a:prstGeom prst="rect">
            <a:avLst/>
          </a:prstGeom>
          <a:solidFill>
            <a:srgbClr val="D8DDD0"/>
          </a:solidFill>
          <a:ln w="12700">
            <a:solidFill>
              <a:srgbClr val="D8DD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Papago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INDENG 290 Energy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2158</Words>
  <Application>Microsoft Macintosh PowerPoint</Application>
  <PresentationFormat>宽屏</PresentationFormat>
  <Paragraphs>301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Implications of AI-Driven Data Centers</dc:title>
  <dc:subject>PptxGenJS Presentation</dc:subject>
  <dc:creator>Linzhi Wu, Kelly Zeng</dc:creator>
  <cp:lastModifiedBy>Linzhi Wu</cp:lastModifiedBy>
  <cp:revision>2</cp:revision>
  <dcterms:created xsi:type="dcterms:W3CDTF">2026-05-03T21:38:12Z</dcterms:created>
  <dcterms:modified xsi:type="dcterms:W3CDTF">2026-05-05T19:27:11Z</dcterms:modified>
</cp:coreProperties>
</file>